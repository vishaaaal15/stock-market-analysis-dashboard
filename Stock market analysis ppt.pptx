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8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BAF310 Ansh Bachhe" userId="9a6a60e073e16af0" providerId="LiveId" clId="{7FC7247B-C741-4F85-BF2E-D9BF869EDE50}"/>
    <pc:docChg chg="undo custSel addSld delSld modSld">
      <pc:chgData name="SYBAF310 Ansh Bachhe" userId="9a6a60e073e16af0" providerId="LiveId" clId="{7FC7247B-C741-4F85-BF2E-D9BF869EDE50}" dt="2025-12-28T05:04:14.991" v="668" actId="108"/>
      <pc:docMkLst>
        <pc:docMk/>
      </pc:docMkLst>
      <pc:sldChg chg="modSp mod">
        <pc:chgData name="SYBAF310 Ansh Bachhe" userId="9a6a60e073e16af0" providerId="LiveId" clId="{7FC7247B-C741-4F85-BF2E-D9BF869EDE50}" dt="2025-12-27T16:48:50.539" v="657" actId="20577"/>
        <pc:sldMkLst>
          <pc:docMk/>
          <pc:sldMk cId="3962381399" sldId="257"/>
        </pc:sldMkLst>
        <pc:spChg chg="mod">
          <ac:chgData name="SYBAF310 Ansh Bachhe" userId="9a6a60e073e16af0" providerId="LiveId" clId="{7FC7247B-C741-4F85-BF2E-D9BF869EDE50}" dt="2025-12-27T16:48:47.004" v="652" actId="20577"/>
          <ac:spMkLst>
            <pc:docMk/>
            <pc:sldMk cId="3962381399" sldId="257"/>
            <ac:spMk id="2" creationId="{6B519716-454E-6C80-8B83-0BA5D4AA4029}"/>
          </ac:spMkLst>
        </pc:spChg>
        <pc:spChg chg="mod">
          <ac:chgData name="SYBAF310 Ansh Bachhe" userId="9a6a60e073e16af0" providerId="LiveId" clId="{7FC7247B-C741-4F85-BF2E-D9BF869EDE50}" dt="2025-12-27T16:48:50.539" v="657" actId="20577"/>
          <ac:spMkLst>
            <pc:docMk/>
            <pc:sldMk cId="3962381399" sldId="257"/>
            <ac:spMk id="3" creationId="{C6E42106-9637-75F3-F53B-45A5A189827D}"/>
          </ac:spMkLst>
        </pc:spChg>
      </pc:sldChg>
      <pc:sldChg chg="modSp">
        <pc:chgData name="SYBAF310 Ansh Bachhe" userId="9a6a60e073e16af0" providerId="LiveId" clId="{7FC7247B-C741-4F85-BF2E-D9BF869EDE50}" dt="2025-12-27T13:39:14.163" v="647" actId="20578"/>
        <pc:sldMkLst>
          <pc:docMk/>
          <pc:sldMk cId="1819741820" sldId="258"/>
        </pc:sldMkLst>
        <pc:spChg chg="mod">
          <ac:chgData name="SYBAF310 Ansh Bachhe" userId="9a6a60e073e16af0" providerId="LiveId" clId="{7FC7247B-C741-4F85-BF2E-D9BF869EDE50}" dt="2025-12-27T13:39:14.163" v="647" actId="20578"/>
          <ac:spMkLst>
            <pc:docMk/>
            <pc:sldMk cId="1819741820" sldId="258"/>
            <ac:spMk id="3" creationId="{8E91B878-53EC-7EC9-35D2-E468D631AEF9}"/>
          </ac:spMkLst>
        </pc:spChg>
      </pc:sldChg>
      <pc:sldChg chg="addSp delSp modSp mod">
        <pc:chgData name="SYBAF310 Ansh Bachhe" userId="9a6a60e073e16af0" providerId="LiveId" clId="{7FC7247B-C741-4F85-BF2E-D9BF869EDE50}" dt="2025-12-23T14:50:32.844" v="384" actId="113"/>
        <pc:sldMkLst>
          <pc:docMk/>
          <pc:sldMk cId="1983433075" sldId="259"/>
        </pc:sldMkLst>
        <pc:spChg chg="mod">
          <ac:chgData name="SYBAF310 Ansh Bachhe" userId="9a6a60e073e16af0" providerId="LiveId" clId="{7FC7247B-C741-4F85-BF2E-D9BF869EDE50}" dt="2025-12-23T14:23:34.722" v="94" actId="20577"/>
          <ac:spMkLst>
            <pc:docMk/>
            <pc:sldMk cId="1983433075" sldId="259"/>
            <ac:spMk id="2" creationId="{BFE2F0F2-F99C-2F84-13BA-46CC77918C0D}"/>
          </ac:spMkLst>
        </pc:spChg>
        <pc:spChg chg="mod">
          <ac:chgData name="SYBAF310 Ansh Bachhe" userId="9a6a60e073e16af0" providerId="LiveId" clId="{7FC7247B-C741-4F85-BF2E-D9BF869EDE50}" dt="2025-12-23T14:50:32.844" v="384" actId="113"/>
          <ac:spMkLst>
            <pc:docMk/>
            <pc:sldMk cId="1983433075" sldId="259"/>
            <ac:spMk id="3" creationId="{60668726-4915-970E-360F-67D016A15CD5}"/>
          </ac:spMkLst>
        </pc:spChg>
      </pc:sldChg>
      <pc:sldChg chg="addSp modSp new mod">
        <pc:chgData name="SYBAF310 Ansh Bachhe" userId="9a6a60e073e16af0" providerId="LiveId" clId="{7FC7247B-C741-4F85-BF2E-D9BF869EDE50}" dt="2025-12-23T14:19:45.326" v="40" actId="115"/>
        <pc:sldMkLst>
          <pc:docMk/>
          <pc:sldMk cId="2646627286" sldId="260"/>
        </pc:sldMkLst>
        <pc:spChg chg="add mod">
          <ac:chgData name="SYBAF310 Ansh Bachhe" userId="9a6a60e073e16af0" providerId="LiveId" clId="{7FC7247B-C741-4F85-BF2E-D9BF869EDE50}" dt="2025-12-23T14:19:45.326" v="40" actId="115"/>
          <ac:spMkLst>
            <pc:docMk/>
            <pc:sldMk cId="2646627286" sldId="260"/>
            <ac:spMk id="4" creationId="{CAC2E903-9BE0-EB63-E63F-140880EE3BDA}"/>
          </ac:spMkLst>
        </pc:spChg>
        <pc:picChg chg="add mod modCrop">
          <ac:chgData name="SYBAF310 Ansh Bachhe" userId="9a6a60e073e16af0" providerId="LiveId" clId="{7FC7247B-C741-4F85-BF2E-D9BF869EDE50}" dt="2025-12-23T14:18:59.325" v="12" actId="14861"/>
          <ac:picMkLst>
            <pc:docMk/>
            <pc:sldMk cId="2646627286" sldId="260"/>
            <ac:picMk id="3" creationId="{F5AA6862-E99C-69A5-811B-9F45338F0871}"/>
          </ac:picMkLst>
        </pc:picChg>
      </pc:sldChg>
      <pc:sldChg chg="addSp delSp modSp add mod">
        <pc:chgData name="SYBAF310 Ansh Bachhe" userId="9a6a60e073e16af0" providerId="LiveId" clId="{7FC7247B-C741-4F85-BF2E-D9BF869EDE50}" dt="2025-12-28T05:04:14.991" v="668" actId="108"/>
        <pc:sldMkLst>
          <pc:docMk/>
          <pc:sldMk cId="819373814" sldId="261"/>
        </pc:sldMkLst>
        <pc:spChg chg="mod">
          <ac:chgData name="SYBAF310 Ansh Bachhe" userId="9a6a60e073e16af0" providerId="LiveId" clId="{7FC7247B-C741-4F85-BF2E-D9BF869EDE50}" dt="2025-12-23T14:20:08.764" v="54" actId="20577"/>
          <ac:spMkLst>
            <pc:docMk/>
            <pc:sldMk cId="819373814" sldId="261"/>
            <ac:spMk id="4" creationId="{B590856D-3C12-5199-B289-9790D15EFCE2}"/>
          </ac:spMkLst>
        </pc:spChg>
        <pc:picChg chg="add mod modCrop">
          <ac:chgData name="SYBAF310 Ansh Bachhe" userId="9a6a60e073e16af0" providerId="LiveId" clId="{7FC7247B-C741-4F85-BF2E-D9BF869EDE50}" dt="2025-12-28T05:04:14.991" v="668" actId="108"/>
          <ac:picMkLst>
            <pc:docMk/>
            <pc:sldMk cId="819373814" sldId="261"/>
            <ac:picMk id="3" creationId="{FDBBD2DD-27FF-5F08-275A-A5F59CCFBA1B}"/>
          </ac:picMkLst>
        </pc:picChg>
        <pc:picChg chg="add del mod modCrop">
          <ac:chgData name="SYBAF310 Ansh Bachhe" userId="9a6a60e073e16af0" providerId="LiveId" clId="{7FC7247B-C741-4F85-BF2E-D9BF869EDE50}" dt="2025-12-28T05:03:07.319" v="658" actId="21"/>
          <ac:picMkLst>
            <pc:docMk/>
            <pc:sldMk cId="819373814" sldId="261"/>
            <ac:picMk id="5" creationId="{898AE9F0-915B-1933-1471-2F3F5784794C}"/>
          </ac:picMkLst>
        </pc:picChg>
      </pc:sldChg>
      <pc:sldChg chg="modSp add mod">
        <pc:chgData name="SYBAF310 Ansh Bachhe" userId="9a6a60e073e16af0" providerId="LiveId" clId="{7FC7247B-C741-4F85-BF2E-D9BF869EDE50}" dt="2025-12-23T14:50:42.203" v="387" actId="113"/>
        <pc:sldMkLst>
          <pc:docMk/>
          <pc:sldMk cId="2997986764" sldId="263"/>
        </pc:sldMkLst>
        <pc:spChg chg="mod">
          <ac:chgData name="SYBAF310 Ansh Bachhe" userId="9a6a60e073e16af0" providerId="LiveId" clId="{7FC7247B-C741-4F85-BF2E-D9BF869EDE50}" dt="2025-12-23T14:50:42.203" v="387" actId="113"/>
          <ac:spMkLst>
            <pc:docMk/>
            <pc:sldMk cId="2997986764" sldId="263"/>
            <ac:spMk id="3" creationId="{03A9BCBD-61F5-5FA1-0C2B-6392B0538573}"/>
          </ac:spMkLst>
        </pc:spChg>
      </pc:sldChg>
      <pc:sldChg chg="modSp new mod">
        <pc:chgData name="SYBAF310 Ansh Bachhe" userId="9a6a60e073e16af0" providerId="LiveId" clId="{7FC7247B-C741-4F85-BF2E-D9BF869EDE50}" dt="2025-12-27T07:50:33.252" v="547" actId="5793"/>
        <pc:sldMkLst>
          <pc:docMk/>
          <pc:sldMk cId="3401656242" sldId="264"/>
        </pc:sldMkLst>
        <pc:spChg chg="mod">
          <ac:chgData name="SYBAF310 Ansh Bachhe" userId="9a6a60e073e16af0" providerId="LiveId" clId="{7FC7247B-C741-4F85-BF2E-D9BF869EDE50}" dt="2025-12-23T14:51:33.157" v="401" actId="20577"/>
          <ac:spMkLst>
            <pc:docMk/>
            <pc:sldMk cId="3401656242" sldId="264"/>
            <ac:spMk id="2" creationId="{9DF21BEF-7C35-C56B-9F70-2B82EFA5412F}"/>
          </ac:spMkLst>
        </pc:spChg>
        <pc:spChg chg="mod">
          <ac:chgData name="SYBAF310 Ansh Bachhe" userId="9a6a60e073e16af0" providerId="LiveId" clId="{7FC7247B-C741-4F85-BF2E-D9BF869EDE50}" dt="2025-12-27T07:50:33.252" v="547" actId="5793"/>
          <ac:spMkLst>
            <pc:docMk/>
            <pc:sldMk cId="3401656242" sldId="264"/>
            <ac:spMk id="3" creationId="{C7216749-F07A-166E-7A0C-F3C4B982327A}"/>
          </ac:spMkLst>
        </pc:spChg>
      </pc:sldChg>
      <pc:sldChg chg="modSp add mod">
        <pc:chgData name="SYBAF310 Ansh Bachhe" userId="9a6a60e073e16af0" providerId="LiveId" clId="{7FC7247B-C741-4F85-BF2E-D9BF869EDE50}" dt="2025-12-23T15:10:19.342" v="514" actId="27636"/>
        <pc:sldMkLst>
          <pc:docMk/>
          <pc:sldMk cId="3700616446" sldId="265"/>
        </pc:sldMkLst>
        <pc:spChg chg="mod">
          <ac:chgData name="SYBAF310 Ansh Bachhe" userId="9a6a60e073e16af0" providerId="LiveId" clId="{7FC7247B-C741-4F85-BF2E-D9BF869EDE50}" dt="2025-12-23T15:10:19.342" v="514" actId="27636"/>
          <ac:spMkLst>
            <pc:docMk/>
            <pc:sldMk cId="3700616446" sldId="265"/>
            <ac:spMk id="3" creationId="{1F0614FC-15BB-6A60-20E7-247462F99E3A}"/>
          </ac:spMkLst>
        </pc:spChg>
      </pc:sldChg>
      <pc:sldChg chg="modSp add mod">
        <pc:chgData name="SYBAF310 Ansh Bachhe" userId="9a6a60e073e16af0" providerId="LiveId" clId="{7FC7247B-C741-4F85-BF2E-D9BF869EDE50}" dt="2025-12-27T13:47:36.348" v="650" actId="20577"/>
        <pc:sldMkLst>
          <pc:docMk/>
          <pc:sldMk cId="3306444929" sldId="266"/>
        </pc:sldMkLst>
        <pc:spChg chg="mod">
          <ac:chgData name="SYBAF310 Ansh Bachhe" userId="9a6a60e073e16af0" providerId="LiveId" clId="{7FC7247B-C741-4F85-BF2E-D9BF869EDE50}" dt="2025-12-23T15:05:50.521" v="473" actId="20577"/>
          <ac:spMkLst>
            <pc:docMk/>
            <pc:sldMk cId="3306444929" sldId="266"/>
            <ac:spMk id="2" creationId="{D666E27F-22A5-A061-01C5-E0120B6C8FE7}"/>
          </ac:spMkLst>
        </pc:spChg>
        <pc:spChg chg="mod">
          <ac:chgData name="SYBAF310 Ansh Bachhe" userId="9a6a60e073e16af0" providerId="LiveId" clId="{7FC7247B-C741-4F85-BF2E-D9BF869EDE50}" dt="2025-12-27T13:47:36.348" v="650" actId="20577"/>
          <ac:spMkLst>
            <pc:docMk/>
            <pc:sldMk cId="3306444929" sldId="266"/>
            <ac:spMk id="3" creationId="{1F37F348-EE3B-803F-B2B5-F3C9C94FC0C8}"/>
          </ac:spMkLst>
        </pc:spChg>
      </pc:sldChg>
      <pc:sldChg chg="modSp add mod">
        <pc:chgData name="SYBAF310 Ansh Bachhe" userId="9a6a60e073e16af0" providerId="LiveId" clId="{7FC7247B-C741-4F85-BF2E-D9BF869EDE50}" dt="2025-12-23T15:09:58.545" v="508" actId="2710"/>
        <pc:sldMkLst>
          <pc:docMk/>
          <pc:sldMk cId="634565730" sldId="267"/>
        </pc:sldMkLst>
        <pc:spChg chg="mod">
          <ac:chgData name="SYBAF310 Ansh Bachhe" userId="9a6a60e073e16af0" providerId="LiveId" clId="{7FC7247B-C741-4F85-BF2E-D9BF869EDE50}" dt="2025-12-23T15:09:58.545" v="508" actId="2710"/>
          <ac:spMkLst>
            <pc:docMk/>
            <pc:sldMk cId="634565730" sldId="267"/>
            <ac:spMk id="3" creationId="{699F7EDC-27F7-B651-7704-E5AED5F8DF8E}"/>
          </ac:spMkLst>
        </pc:spChg>
      </pc:sldChg>
      <pc:sldChg chg="addSp delSp modSp add mod">
        <pc:chgData name="SYBAF310 Ansh Bachhe" userId="9a6a60e073e16af0" providerId="LiveId" clId="{7FC7247B-C741-4F85-BF2E-D9BF869EDE50}" dt="2025-12-26T13:29:14.719" v="535" actId="1076"/>
        <pc:sldMkLst>
          <pc:docMk/>
          <pc:sldMk cId="2230183928" sldId="268"/>
        </pc:sldMkLst>
        <pc:spChg chg="mod">
          <ac:chgData name="SYBAF310 Ansh Bachhe" userId="9a6a60e073e16af0" providerId="LiveId" clId="{7FC7247B-C741-4F85-BF2E-D9BF869EDE50}" dt="2025-12-26T13:28:49.744" v="529" actId="20577"/>
          <ac:spMkLst>
            <pc:docMk/>
            <pc:sldMk cId="2230183928" sldId="268"/>
            <ac:spMk id="4" creationId="{5D0CD4D9-5FD7-0E68-0651-4073BFDA4BBF}"/>
          </ac:spMkLst>
        </pc:spChg>
        <pc:picChg chg="add mod">
          <ac:chgData name="SYBAF310 Ansh Bachhe" userId="9a6a60e073e16af0" providerId="LiveId" clId="{7FC7247B-C741-4F85-BF2E-D9BF869EDE50}" dt="2025-12-26T13:29:14.719" v="535" actId="1076"/>
          <ac:picMkLst>
            <pc:docMk/>
            <pc:sldMk cId="2230183928" sldId="268"/>
            <ac:picMk id="3" creationId="{72B2ECFE-67D1-FAEB-1344-1891EC74F44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30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5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6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1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4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3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3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96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19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10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F0677E6-791A-4320-99A4-9DB9C2C962F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38161CE-7DE3-4C5D-987F-F022CE68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2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ADDA-9793-B5E2-A745-201740E99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59" y="1432223"/>
            <a:ext cx="10511175" cy="3035808"/>
          </a:xfrm>
        </p:spPr>
        <p:txBody>
          <a:bodyPr/>
          <a:lstStyle/>
          <a:p>
            <a:pPr algn="ctr"/>
            <a:r>
              <a:rPr lang="en-US" sz="7200" dirty="0"/>
              <a:t>Stock market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2FD8B-12F5-663A-FBE0-51C9A0302C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Stock Market Data Analysis Using Excel, Power BI, </a:t>
            </a:r>
            <a:r>
              <a:rPr lang="en-US" dirty="0" err="1"/>
              <a:t>MySql</a:t>
            </a:r>
            <a:r>
              <a:rPr lang="en-US" dirty="0"/>
              <a:t>, Tableau.</a:t>
            </a:r>
          </a:p>
        </p:txBody>
      </p:sp>
      <p:pic>
        <p:nvPicPr>
          <p:cNvPr id="6" name="Graphic 5" descr="Bar graph with upward trend with solid fill">
            <a:extLst>
              <a:ext uri="{FF2B5EF4-FFF2-40B4-BE49-F238E27FC236}">
                <a16:creationId xmlns:a16="http://schemas.microsoft.com/office/drawing/2014/main" id="{3184A659-BD0B-A5D8-F04B-FAF365E88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848" y="2372946"/>
            <a:ext cx="994926" cy="9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49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9716-454E-6C80-8B83-0BA5D4AA4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42106-9637-75F3-F53B-45A5A1898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latin typeface="Papyrus" panose="03070502060502030205" pitchFamily="66" charset="0"/>
              </a:rPr>
              <a:t>Group Members :</a:t>
            </a:r>
          </a:p>
          <a:p>
            <a:pPr marL="379476" indent="-342900">
              <a:buFont typeface="Wingdings" panose="05000000000000000000" pitchFamily="2" charset="2"/>
              <a:buChar char="Ø"/>
            </a:pPr>
            <a:r>
              <a:rPr lang="en-GB" b="1" dirty="0">
                <a:latin typeface="Papyrus" panose="03070502060502030205" pitchFamily="66" charset="0"/>
              </a:rPr>
              <a:t>Rahul Deepak Kadu</a:t>
            </a:r>
          </a:p>
          <a:p>
            <a:pPr marL="379476" indent="-342900">
              <a:buFont typeface="Wingdings" panose="05000000000000000000" pitchFamily="2" charset="2"/>
              <a:buChar char="Ø"/>
            </a:pPr>
            <a:r>
              <a:rPr lang="en-GB" b="1" dirty="0">
                <a:latin typeface="Papyrus" panose="03070502060502030205" pitchFamily="66" charset="0"/>
              </a:rPr>
              <a:t>Vishakha Priya</a:t>
            </a:r>
          </a:p>
          <a:p>
            <a:pPr marL="379476" indent="-342900">
              <a:buFont typeface="Wingdings" panose="05000000000000000000" pitchFamily="2" charset="2"/>
              <a:buChar char="Ø"/>
            </a:pPr>
            <a:r>
              <a:rPr lang="en-GB" b="1" dirty="0">
                <a:latin typeface="Papyrus" panose="03070502060502030205" pitchFamily="66" charset="0"/>
              </a:rPr>
              <a:t>Vishal Radheshyam Singh</a:t>
            </a:r>
          </a:p>
          <a:p>
            <a:pPr marL="379476" indent="-342900">
              <a:buFont typeface="Wingdings" panose="05000000000000000000" pitchFamily="2" charset="2"/>
              <a:buChar char="Ø"/>
            </a:pPr>
            <a:r>
              <a:rPr lang="en-GB" b="1">
                <a:latin typeface="Papyrus" panose="03070502060502030205" pitchFamily="66" charset="0"/>
              </a:rPr>
              <a:t>Ansh Bachhe</a:t>
            </a:r>
            <a:endParaRPr lang="en-GB" b="1" dirty="0">
              <a:latin typeface="Papyrus" panose="03070502060502030205" pitchFamily="66" charset="0"/>
            </a:endParaRPr>
          </a:p>
          <a:p>
            <a:pPr marL="379476" indent="-342900">
              <a:buFont typeface="Wingdings" panose="05000000000000000000" pitchFamily="2" charset="2"/>
              <a:buChar char="Ø"/>
            </a:pPr>
            <a:r>
              <a:rPr lang="en-GB" b="1" dirty="0">
                <a:latin typeface="Papyrus" panose="03070502060502030205" pitchFamily="66" charset="0"/>
              </a:rPr>
              <a:t>Suma K T</a:t>
            </a:r>
          </a:p>
          <a:p>
            <a:pPr marL="379476" indent="-342900">
              <a:buFont typeface="Wingdings" panose="05000000000000000000" pitchFamily="2" charset="2"/>
              <a:buChar char="Ø"/>
            </a:pPr>
            <a:r>
              <a:rPr lang="en-GB" b="1" dirty="0">
                <a:latin typeface="Papyrus" panose="03070502060502030205" pitchFamily="66" charset="0"/>
              </a:rPr>
              <a:t>Venkata Jeevan Kumar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381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18A5F-0BC6-C9FA-E539-F914882C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1B878-53EC-7EC9-35D2-E468D631A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/>
              <a:t>This project focuses on analyzing stock market performance using historical trading data across multiple companies and sectors.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An interactive dashboard was developed to monitor key metrics such as market capitalization, portfolio value, trading volume, returns, volatility, and win rate.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dashboard enables users to filter data by </a:t>
            </a:r>
            <a:r>
              <a:rPr lang="en-US" sz="1800" b="1" dirty="0"/>
              <a:t>trader name, company name, and month</a:t>
            </a:r>
            <a:r>
              <a:rPr lang="en-US" sz="1800" dirty="0"/>
              <a:t>, providing dynamic insights into sector-wise and company-wise performance.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objective of this project is to support </a:t>
            </a:r>
            <a:r>
              <a:rPr lang="en-US" sz="1800" b="1" dirty="0"/>
              <a:t>data-driven investment decisions</a:t>
            </a:r>
            <a:r>
              <a:rPr lang="en-US" sz="1800" dirty="0"/>
              <a:t>, identify high-performing sectors, and evaluate portfolio efficiency through visual analytics.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741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410B0-5981-6A29-7605-825A2477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F0F2-F99C-2F84-13BA-46CC77918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US" dirty="0" err="1"/>
              <a:t>kpi’s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68726-4915-970E-360F-67D016A15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Market Capitalization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Measures the overall size and market value of a company.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Indicates how the market perceives a company’s stability, growth potential, and risk.</a:t>
            </a:r>
          </a:p>
          <a:p>
            <a:endParaRPr lang="en-US" dirty="0"/>
          </a:p>
          <a:p>
            <a:r>
              <a:rPr lang="en-US" b="1" dirty="0"/>
              <a:t>Portfolio Volume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Represents the total amount of trading activity within your portfolio.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Reflects how actively the portfolio is being managed.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Total Volume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Measures overall trading activity in the entire market or specific assets.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Shows how much interest and participation exists.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43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F5DF6-4CC5-027B-A5D2-566E8C12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55CD2-778D-7CC7-F97C-5078F641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US" dirty="0" err="1"/>
              <a:t>kpi’s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9BCBD-61F5-5FA1-0C2B-6392B0538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Volatility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Indicates the degree of price fluctuation over time.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 direct measure of risk and uncertainty.</a:t>
            </a:r>
          </a:p>
          <a:p>
            <a:endParaRPr lang="en-US" dirty="0"/>
          </a:p>
          <a:p>
            <a:r>
              <a:rPr lang="en-US" b="1" dirty="0"/>
              <a:t>Trade Win Rate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Percentage of trades that are profitable.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Measures strategy effectiveness, not profitability alone.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Sector And Companie’s Daily Return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Measures short-term performance at both sector and company levels.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Highlights relative strength and weakness.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98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AA6862-E99C-69A5-811B-9F45338F0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5" t="23656" r="17742" b="9391"/>
          <a:stretch>
            <a:fillRect/>
          </a:stretch>
        </p:blipFill>
        <p:spPr>
          <a:xfrm>
            <a:off x="1157323" y="911091"/>
            <a:ext cx="10144617" cy="5735516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C2E903-9BE0-EB63-E63F-140880EE3BDA}"/>
              </a:ext>
            </a:extLst>
          </p:cNvPr>
          <p:cNvSpPr txBox="1"/>
          <p:nvPr/>
        </p:nvSpPr>
        <p:spPr>
          <a:xfrm>
            <a:off x="1157323" y="68826"/>
            <a:ext cx="1025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64662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3AE73-8055-E0BD-3147-81869A75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90856D-3C12-5199-B289-9790D15EFCE2}"/>
              </a:ext>
            </a:extLst>
          </p:cNvPr>
          <p:cNvSpPr txBox="1"/>
          <p:nvPr/>
        </p:nvSpPr>
        <p:spPr>
          <a:xfrm>
            <a:off x="1157323" y="68826"/>
            <a:ext cx="1025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Excel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BD2DD-27FF-5F08-275A-A5F59CCFB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47" r="2823" b="8674"/>
          <a:stretch>
            <a:fillRect/>
          </a:stretch>
        </p:blipFill>
        <p:spPr>
          <a:xfrm>
            <a:off x="172064" y="993058"/>
            <a:ext cx="11847871" cy="5343832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937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A242A-C0FC-C0E8-687C-EAF52934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0CD4D9-5FD7-0E68-0651-4073BFDA4BBF}"/>
              </a:ext>
            </a:extLst>
          </p:cNvPr>
          <p:cNvSpPr txBox="1"/>
          <p:nvPr/>
        </p:nvSpPr>
        <p:spPr>
          <a:xfrm>
            <a:off x="1157323" y="68826"/>
            <a:ext cx="1025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Tableau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ECFE-67D1-FAEB-1344-1891EC74F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" y="1049562"/>
            <a:ext cx="11572568" cy="5533134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0183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1BEF-7C35-C56B-9F70-2B82EFA5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16749-F07A-166E-7A0C-F3C4B9823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86467"/>
            <a:ext cx="10058400" cy="4902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1. Overall Portfolio Performance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total market capitalization stands at 270M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portfolio value is 944K.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 high win rate of 88.7% suggests effective trading strategies and successful stock selection.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Average volatility of 1.32%</a:t>
            </a:r>
          </a:p>
          <a:p>
            <a:pPr marL="274320" lvl="1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2. Company-wise Return Analysis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Companies like Pfizer Inc. and Amazon Inc. show higher daily returns (~1.4%).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Apple Inc. and Reliance Industries have comparatively lower daily returns, indicating slower growth during the analyzed period.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This highlights variation in short-term performance across companies.</a:t>
            </a:r>
          </a:p>
        </p:txBody>
      </p:sp>
    </p:spTree>
    <p:extLst>
      <p:ext uri="{BB962C8B-B14F-4D97-AF65-F5344CB8AC3E}">
        <p14:creationId xmlns:p14="http://schemas.microsoft.com/office/powerpoint/2010/main" val="3401656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3E0C5-F7FF-3D99-9CBA-AC271C283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67BF-C1A1-3F8C-BA62-FF33B1DA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614FC-15BB-6A60-20E7-247462F99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86467"/>
            <a:ext cx="10058400" cy="4936066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3. Sector-wise Profit &amp; Return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Information Technology sector generates the highest realized profit and return percentage.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Healthcare and Energy sectors show moderate performance.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Financials sector has lower return percentages, suggesting underperformance compared to other sectors.</a:t>
            </a:r>
          </a:p>
          <a:p>
            <a:pPr>
              <a:lnSpc>
                <a:spcPct val="110000"/>
              </a:lnSpc>
            </a:pPr>
            <a:r>
              <a:rPr lang="en-US" dirty="0"/>
              <a:t>4. Trading Volume Distribution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Nearly 50% of total trading volume comes from the Information Technology sector, showing strong investor interest.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Other sectors such as Energy, Financials, Consumer Discretionary, and Healthcare have relatively balanced but lower volumes.</a:t>
            </a:r>
          </a:p>
          <a:p>
            <a:pPr>
              <a:lnSpc>
                <a:spcPct val="110000"/>
              </a:lnSpc>
            </a:pPr>
            <a:r>
              <a:rPr lang="en-US" dirty="0"/>
              <a:t>5. Portfolio Value by Company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Reliance Industries holds the highest portfolio value, followed by Tata Consultancy Services and Infosys Ltd.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Companies like Amazon, Alphabet, and HDFC Bank have smaller portfolio allocations, indicating conservative exposure.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616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62E0E-8A3D-FE8A-4A4E-82AE458C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E27F-22A5-A061-01C5-E0120B6C8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7F348-EE3B-803F-B2B5-F3C9C94FC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98717"/>
            <a:ext cx="10058400" cy="40507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Increase Exposure to High-Performing Sectors</a:t>
            </a:r>
          </a:p>
          <a:p>
            <a:pPr>
              <a:lnSpc>
                <a:spcPct val="150000"/>
              </a:lnSpc>
            </a:pPr>
            <a:r>
              <a:rPr lang="en-US" dirty="0"/>
              <a:t>Reduce exposure to high volatility stocks.</a:t>
            </a:r>
          </a:p>
          <a:p>
            <a:pPr>
              <a:lnSpc>
                <a:spcPct val="150000"/>
              </a:lnSpc>
            </a:pPr>
            <a:r>
              <a:rPr lang="en-US" dirty="0"/>
              <a:t>Increase trading activity in high-volume month</a:t>
            </a:r>
          </a:p>
          <a:p>
            <a:pPr>
              <a:lnSpc>
                <a:spcPct val="150000"/>
              </a:lnSpc>
            </a:pPr>
            <a:r>
              <a:rPr lang="en-US" dirty="0"/>
              <a:t>Monitor Volatility Trends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4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5357-506F-8784-BBAE-A3E5A802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F7EDC-27F7-B651-7704-E5AED5F8D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98717"/>
            <a:ext cx="10058400" cy="40507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161DBE-4520-7C60-0E8B-D7906EC0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957" y="2624328"/>
            <a:ext cx="6029043" cy="1609344"/>
          </a:xfrm>
        </p:spPr>
        <p:txBody>
          <a:bodyPr/>
          <a:lstStyle/>
          <a:p>
            <a:pPr algn="ctr"/>
            <a:r>
              <a:rPr lang="en-US" dirty="0"/>
              <a:t>THANK YOU </a:t>
            </a:r>
          </a:p>
        </p:txBody>
      </p:sp>
      <p:pic>
        <p:nvPicPr>
          <p:cNvPr id="8" name="Graphic 7" descr="Upward trend with solid fill">
            <a:extLst>
              <a:ext uri="{FF2B5EF4-FFF2-40B4-BE49-F238E27FC236}">
                <a16:creationId xmlns:a16="http://schemas.microsoft.com/office/drawing/2014/main" id="{64561CBC-9B2C-A202-5967-F2AE61C08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3019" y="286817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657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126</TotalTime>
  <Words>520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Papyrus</vt:lpstr>
      <vt:lpstr>Rockwell</vt:lpstr>
      <vt:lpstr>Rockwell Condensed</vt:lpstr>
      <vt:lpstr>Wingdings</vt:lpstr>
      <vt:lpstr>Wood Type</vt:lpstr>
      <vt:lpstr>Stock market analysis</vt:lpstr>
      <vt:lpstr>Group 5</vt:lpstr>
      <vt:lpstr>Introduction to topic</vt:lpstr>
      <vt:lpstr>Key kpi’s</vt:lpstr>
      <vt:lpstr>Key kpi’s</vt:lpstr>
      <vt:lpstr>PowerPoint Presentation</vt:lpstr>
      <vt:lpstr>PowerPoint Presentation</vt:lpstr>
      <vt:lpstr>PowerPoint Presentation</vt:lpstr>
      <vt:lpstr>Key insights</vt:lpstr>
      <vt:lpstr>Key insights</vt:lpstr>
      <vt:lpstr>Suggestions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SYBAF310 Ansh Bachhe</dc:creator>
  <cp:lastModifiedBy>SYBAF310 Ansh Bachhe</cp:lastModifiedBy>
  <cp:revision>3</cp:revision>
  <dcterms:created xsi:type="dcterms:W3CDTF">2025-12-23T13:54:53Z</dcterms:created>
  <dcterms:modified xsi:type="dcterms:W3CDTF">2025-12-28T05:04:17Z</dcterms:modified>
</cp:coreProperties>
</file>